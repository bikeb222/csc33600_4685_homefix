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hK2VMfEiygEmUkE0pujAjKZLv3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0" y="27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08d15bc2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3e08d15bc2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08d15bc24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e08d15bc24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5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6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16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7" name="Google Shape;37;p17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1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2"/>
          </p:nvPr>
        </p:nvSpPr>
        <p:spPr>
          <a:xfrm>
            <a:off x="4663440" y="1845736"/>
            <a:ext cx="370332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2"/>
          </p:nvPr>
        </p:nvSpPr>
        <p:spPr>
          <a:xfrm>
            <a:off x="82296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3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body" idx="4"/>
          </p:nvPr>
        </p:nvSpPr>
        <p:spPr>
          <a:xfrm>
            <a:off x="466344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1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1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2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2"/>
          <p:cNvSpPr txBox="1"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body" idx="1"/>
          </p:nvPr>
        </p:nvSpPr>
        <p:spPr>
          <a:xfrm>
            <a:off x="3460237" y="731520"/>
            <a:ext cx="5009393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2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3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8" name="Google Shape;78;p23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2" y="0"/>
            <a:ext cx="9143989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79" name="Google Shape;79;p23"/>
          <p:cNvSpPr txBox="1">
            <a:spLocks noGrp="1"/>
          </p:cNvSpPr>
          <p:nvPr>
            <p:ph type="body" idx="1"/>
          </p:nvPr>
        </p:nvSpPr>
        <p:spPr>
          <a:xfrm>
            <a:off x="822959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4"/>
          <p:cNvSpPr txBox="1">
            <a:spLocks noGrp="1"/>
          </p:cNvSpPr>
          <p:nvPr>
            <p:ph type="body" idx="1"/>
          </p:nvPr>
        </p:nvSpPr>
        <p:spPr>
          <a:xfrm rot="5400000">
            <a:off x="2583179" y="85514"/>
            <a:ext cx="4023360" cy="754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5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5"/>
          <p:cNvSpPr txBox="1">
            <a:spLocks noGrp="1"/>
          </p:cNvSpPr>
          <p:nvPr>
            <p:ph type="title"/>
          </p:nvPr>
        </p:nvSpPr>
        <p:spPr>
          <a:xfrm rot="5400000">
            <a:off x="4650802" y="2307652"/>
            <a:ext cx="5757421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body" idx="1"/>
          </p:nvPr>
        </p:nvSpPr>
        <p:spPr>
          <a:xfrm rot="5400000">
            <a:off x="650303" y="393126"/>
            <a:ext cx="5757420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4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4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4"/>
          <p:cNvCxnSpPr/>
          <p:nvPr/>
        </p:nvCxnSpPr>
        <p:spPr>
          <a:xfrm>
            <a:off x="895149" y="1737845"/>
            <a:ext cx="74752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/>
          <p:nvPr/>
        </p:nvSpPr>
        <p:spPr>
          <a:xfrm>
            <a:off x="0" y="0"/>
            <a:ext cx="9139736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>
            <a:spLocks noGrp="1"/>
          </p:cNvSpPr>
          <p:nvPr>
            <p:ph type="title"/>
          </p:nvPr>
        </p:nvSpPr>
        <p:spPr>
          <a:xfrm>
            <a:off x="1452974" y="305778"/>
            <a:ext cx="50631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Font typeface="Arabic Typesetting"/>
              <a:buNone/>
            </a:pPr>
            <a:r>
              <a:rPr lang="en-US" sz="6000">
                <a:solidFill>
                  <a:schemeClr val="accent2"/>
                </a:solidFill>
                <a:latin typeface="Arabic Typesetting"/>
                <a:ea typeface="Arabic Typesetting"/>
                <a:cs typeface="Arabic Typesetting"/>
                <a:sym typeface="Arabic Typesetting"/>
              </a:rPr>
              <a:t>HomeFix</a:t>
            </a:r>
            <a:endParaRPr sz="6000">
              <a:solidFill>
                <a:schemeClr val="accent2"/>
              </a:solidFill>
              <a:latin typeface="Arabic Typesetting"/>
              <a:ea typeface="Arabic Typesetting"/>
              <a:cs typeface="Arabic Typesetting"/>
              <a:sym typeface="Arabic Typesetting"/>
            </a:endParaRPr>
          </a:p>
        </p:txBody>
      </p:sp>
      <p:sp>
        <p:nvSpPr>
          <p:cNvPr id="103" name="Google Shape;103;p1"/>
          <p:cNvSpPr txBox="1">
            <a:spLocks noGrp="1"/>
          </p:cNvSpPr>
          <p:nvPr>
            <p:ph type="body" idx="1"/>
          </p:nvPr>
        </p:nvSpPr>
        <p:spPr>
          <a:xfrm>
            <a:off x="783153" y="2023962"/>
            <a:ext cx="5023286" cy="3845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Presented by: Team 4685</a:t>
            </a:r>
            <a:endParaRPr sz="2800"/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 </a:t>
            </a:r>
            <a:endParaRPr sz="2800"/>
          </a:p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Mayesha Fahmida</a:t>
            </a:r>
            <a:endParaRPr sz="2800"/>
          </a:p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Mashiyat Jahin</a:t>
            </a:r>
            <a:endParaRPr sz="2800"/>
          </a:p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Iman Hamby</a:t>
            </a:r>
            <a:endParaRPr sz="2800"/>
          </a:p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Atif Tausif</a:t>
            </a:r>
            <a:endParaRPr sz="2800"/>
          </a:p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Cuiwen Wu</a:t>
            </a:r>
            <a:endParaRPr sz="2800"/>
          </a:p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Guowei Zhao</a:t>
            </a:r>
            <a:endParaRPr sz="2800"/>
          </a:p>
          <a:p>
            <a:pPr marL="9144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4000"/>
              <a:buNone/>
            </a:pPr>
            <a:endParaRPr sz="2800">
              <a:latin typeface="Arabic Typesetting"/>
              <a:ea typeface="Arabic Typesetting"/>
              <a:cs typeface="Arabic Typesetting"/>
              <a:sym typeface="Arabic Typesetting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61081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6099617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Arabic Typesetting"/>
              <a:buNone/>
            </a:pPr>
            <a:r>
              <a:rPr lang="en-US" sz="6000">
                <a:latin typeface="Arabic Typesetting"/>
                <a:ea typeface="Arabic Typesetting"/>
                <a:cs typeface="Arabic Typesetting"/>
                <a:sym typeface="Arabic Typesetting"/>
              </a:rPr>
              <a:t>Introduction</a:t>
            </a:r>
            <a:endParaRPr sz="3600"/>
          </a:p>
        </p:txBody>
      </p: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 Platform to hire home service professionals</a:t>
            </a:r>
            <a:endParaRPr sz="280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 Supports plumbing, electrical, and more</a:t>
            </a:r>
            <a:endParaRPr sz="280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 Users can book, pay, and review services</a:t>
            </a:r>
            <a:endParaRPr sz="280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 Designed as a real-world scalable system</a:t>
            </a: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300"/>
              <a:buNone/>
            </a:pPr>
            <a:endParaRPr sz="3300">
              <a:latin typeface="Arabic Typesetting"/>
              <a:ea typeface="Arabic Typesetting"/>
              <a:cs typeface="Arabic Typesetting"/>
              <a:sym typeface="Arabic Typesetting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Arabic Typesetting"/>
              <a:buNone/>
            </a:pPr>
            <a:r>
              <a:rPr lang="en-US" sz="6000">
                <a:latin typeface="Arabic Typesetting"/>
                <a:ea typeface="Arabic Typesetting"/>
                <a:cs typeface="Arabic Typesetting"/>
                <a:sym typeface="Arabic Typesetting"/>
              </a:rPr>
              <a:t>Tech Stack</a:t>
            </a:r>
            <a:endParaRPr sz="6000"/>
          </a:p>
        </p:txBody>
      </p:sp>
      <p:sp>
        <p:nvSpPr>
          <p:cNvPr id="117" name="Google Shape;117;p3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Frontend: React (Vite)</a:t>
            </a:r>
            <a:endParaRPr sz="280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Backend: Node.js + Express</a:t>
            </a:r>
            <a:endParaRPr sz="280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Database: MySQL</a:t>
            </a:r>
            <a:endParaRPr sz="280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Tools: VS Code, Workbench, GitHub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Arabic Typesetting"/>
              <a:buNone/>
            </a:pPr>
            <a:r>
              <a:rPr lang="en-US" sz="6000">
                <a:latin typeface="Arabic Typesetting"/>
                <a:ea typeface="Arabic Typesetting"/>
                <a:cs typeface="Arabic Typesetting"/>
                <a:sym typeface="Arabic Typesetting"/>
              </a:rPr>
              <a:t>Business Model</a:t>
            </a:r>
            <a:endParaRPr sz="6000"/>
          </a:p>
        </p:txBody>
      </p:sp>
      <p:sp>
        <p:nvSpPr>
          <p:cNvPr id="123" name="Google Shape;123;p4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 Commission charged per completed appointment</a:t>
            </a:r>
            <a:endParaRPr sz="280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 Wallet-based payment system</a:t>
            </a:r>
            <a:endParaRPr sz="280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 Provider payouts after commission deduction</a:t>
            </a:r>
            <a:endParaRPr sz="280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 Scalable model for multiple services</a:t>
            </a:r>
            <a:endParaRPr sz="280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5"/>
          <p:cNvCxnSpPr/>
          <p:nvPr/>
        </p:nvCxnSpPr>
        <p:spPr>
          <a:xfrm>
            <a:off x="905743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" name="Google Shape;131;p5"/>
          <p:cNvSpPr/>
          <p:nvPr/>
        </p:nvSpPr>
        <p:spPr>
          <a:xfrm>
            <a:off x="0" y="0"/>
            <a:ext cx="9144000" cy="63343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>
            <a:spLocks noGrp="1"/>
          </p:cNvSpPr>
          <p:nvPr>
            <p:ph type="title"/>
          </p:nvPr>
        </p:nvSpPr>
        <p:spPr>
          <a:xfrm>
            <a:off x="393261" y="5341907"/>
            <a:ext cx="8181805" cy="1057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0"/>
              <a:buFont typeface="Arabic Typesetting"/>
              <a:buNone/>
            </a:pPr>
            <a:r>
              <a:rPr lang="en-US" sz="4400" dirty="0">
                <a:solidFill>
                  <a:srgbClr val="262626"/>
                </a:solidFill>
                <a:latin typeface="Arabic Typesetting"/>
                <a:ea typeface="Arabic Typesetting"/>
                <a:cs typeface="Arabic Typesetting"/>
                <a:sym typeface="Arabic Typesetting"/>
              </a:rPr>
              <a:t>Receiver Journey</a:t>
            </a:r>
            <a:endParaRPr sz="4400" dirty="0"/>
          </a:p>
        </p:txBody>
      </p:sp>
      <p:cxnSp>
        <p:nvCxnSpPr>
          <p:cNvPr id="133" name="Google Shape;133;p5"/>
          <p:cNvCxnSpPr/>
          <p:nvPr/>
        </p:nvCxnSpPr>
        <p:spPr>
          <a:xfrm>
            <a:off x="540814" y="5618770"/>
            <a:ext cx="788670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90196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5"/>
          <p:cNvSpPr/>
          <p:nvPr/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AE6D4F-D291-2BBD-4525-2565FF414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65" y="25148"/>
            <a:ext cx="8500474" cy="53991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/>
          <p:nvPr/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6"/>
          <p:cNvCxnSpPr/>
          <p:nvPr/>
        </p:nvCxnSpPr>
        <p:spPr>
          <a:xfrm>
            <a:off x="905743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4" name="Google Shape;144;p6"/>
          <p:cNvSpPr/>
          <p:nvPr/>
        </p:nvSpPr>
        <p:spPr>
          <a:xfrm>
            <a:off x="0" y="0"/>
            <a:ext cx="9144000" cy="63343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 txBox="1">
            <a:spLocks noGrp="1"/>
          </p:cNvSpPr>
          <p:nvPr>
            <p:ph type="title"/>
          </p:nvPr>
        </p:nvSpPr>
        <p:spPr>
          <a:xfrm>
            <a:off x="479917" y="5340669"/>
            <a:ext cx="8181805" cy="1057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0"/>
              <a:buFont typeface="Arabic Typesetting"/>
              <a:buNone/>
            </a:pPr>
            <a:r>
              <a:rPr lang="en-US" sz="4400" dirty="0">
                <a:solidFill>
                  <a:srgbClr val="262626"/>
                </a:solidFill>
                <a:latin typeface="Arabic Typesetting"/>
                <a:ea typeface="Arabic Typesetting"/>
                <a:cs typeface="Arabic Typesetting"/>
                <a:sym typeface="Arabic Typesetting"/>
              </a:rPr>
              <a:t>Provider Journey</a:t>
            </a:r>
            <a:endParaRPr sz="4400" dirty="0"/>
          </a:p>
        </p:txBody>
      </p:sp>
      <p:cxnSp>
        <p:nvCxnSpPr>
          <p:cNvPr id="146" name="Google Shape;146;p6"/>
          <p:cNvCxnSpPr/>
          <p:nvPr/>
        </p:nvCxnSpPr>
        <p:spPr>
          <a:xfrm>
            <a:off x="540814" y="5618770"/>
            <a:ext cx="788670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90196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7" name="Google Shape;147;p6"/>
          <p:cNvSpPr/>
          <p:nvPr/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180CCA-331F-660B-793A-354390951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15" y="263774"/>
            <a:ext cx="8204364" cy="53525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7"/>
          <p:cNvCxnSpPr/>
          <p:nvPr/>
        </p:nvCxnSpPr>
        <p:spPr>
          <a:xfrm>
            <a:off x="905743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" name="Google Shape;157;p7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 txBox="1">
            <a:spLocks noGrp="1"/>
          </p:cNvSpPr>
          <p:nvPr>
            <p:ph type="title"/>
          </p:nvPr>
        </p:nvSpPr>
        <p:spPr>
          <a:xfrm>
            <a:off x="3915696" y="965200"/>
            <a:ext cx="4499251" cy="49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rabic Typesetting"/>
              <a:buNone/>
            </a:pPr>
            <a:r>
              <a:rPr lang="en-US" sz="8000">
                <a:solidFill>
                  <a:schemeClr val="dk2"/>
                </a:solidFill>
                <a:latin typeface="Arabic Typesetting"/>
                <a:ea typeface="Arabic Typesetting"/>
                <a:cs typeface="Arabic Typesetting"/>
                <a:sym typeface="Arabic Typesetting"/>
              </a:rPr>
              <a:t>Live Demo</a:t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0" y="0"/>
            <a:ext cx="34385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438550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Arabic Typesetting"/>
              <a:buNone/>
            </a:pPr>
            <a:r>
              <a:rPr lang="en-US" sz="6000">
                <a:latin typeface="Arabic Typesetting"/>
                <a:ea typeface="Arabic Typesetting"/>
                <a:cs typeface="Arabic Typesetting"/>
                <a:sym typeface="Arabic Typesetting"/>
              </a:rPr>
              <a:t>Stored Procedures</a:t>
            </a:r>
            <a:endParaRPr sz="6000"/>
          </a:p>
        </p:txBody>
      </p:sp>
      <p:sp>
        <p:nvSpPr>
          <p:cNvPr id="166" name="Google Shape;166;p11"/>
          <p:cNvSpPr txBox="1">
            <a:spLocks noGrp="1"/>
          </p:cNvSpPr>
          <p:nvPr>
            <p:ph type="body" idx="1"/>
          </p:nvPr>
        </p:nvSpPr>
        <p:spPr>
          <a:xfrm>
            <a:off x="670775" y="1845725"/>
            <a:ext cx="8473200" cy="5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70000" lnSpcReduction="20000"/>
          </a:bodyPr>
          <a:lstStyle/>
          <a:p>
            <a:pPr marL="9144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lang="en-US" sz="3250" b="1">
                <a:latin typeface="Arabic Typesetting"/>
                <a:ea typeface="Arabic Typesetting"/>
                <a:cs typeface="Arabic Typesetting"/>
                <a:sym typeface="Arabic Typesetting"/>
              </a:rPr>
              <a:t>Procedure 1: Recharge Wallet (CALL sp_receiver_recharge(1, 50);)</a:t>
            </a:r>
            <a:endParaRPr sz="3250" b="1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endParaRPr sz="3250" b="1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-144463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3250">
                <a:latin typeface="Arabic Typesetting"/>
                <a:ea typeface="Arabic Typesetting"/>
                <a:cs typeface="Arabic Typesetting"/>
                <a:sym typeface="Arabic Typesetting"/>
              </a:rPr>
              <a:t> Adds $50 to receiver’s wallet</a:t>
            </a:r>
            <a:endParaRPr sz="3250"/>
          </a:p>
          <a:p>
            <a:pPr marL="91440" lvl="0" indent="-144463" algn="l" rtl="0">
              <a:spcBef>
                <a:spcPts val="14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3250">
                <a:latin typeface="Arabic Typesetting"/>
                <a:ea typeface="Arabic Typesetting"/>
                <a:cs typeface="Arabic Typesetting"/>
                <a:sym typeface="Arabic Typesetting"/>
              </a:rPr>
              <a:t> Updates wallet balance instantly</a:t>
            </a:r>
            <a:endParaRPr sz="3250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3250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50" b="1">
                <a:latin typeface="Arabic Typesetting"/>
                <a:ea typeface="Arabic Typesetting"/>
                <a:cs typeface="Arabic Typesetting"/>
                <a:sym typeface="Arabic Typesetting"/>
              </a:rPr>
              <a:t>Procedure 2: Process Payment </a:t>
            </a:r>
            <a:r>
              <a:rPr lang="en-US" sz="3090" b="1">
                <a:latin typeface="Arabic Typesetting"/>
                <a:ea typeface="Arabic Typesetting"/>
                <a:cs typeface="Arabic Typesetting"/>
                <a:sym typeface="Arabic Typesetting"/>
              </a:rPr>
              <a:t>(CALL sp_create_payment_for_completed_appointment(1, 0.15);)</a:t>
            </a:r>
            <a:endParaRPr sz="3090" b="1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50" b="1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-144463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3250">
                <a:latin typeface="Arabic Typesetting"/>
                <a:ea typeface="Arabic Typesetting"/>
                <a:cs typeface="Arabic Typesetting"/>
                <a:sym typeface="Arabic Typesetting"/>
              </a:rPr>
              <a:t> Processes payment after appointment completion</a:t>
            </a:r>
            <a:endParaRPr sz="3250"/>
          </a:p>
          <a:p>
            <a:pPr marL="91440" lvl="0" indent="-144463" algn="l" rtl="0">
              <a:spcBef>
                <a:spcPts val="14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3250">
                <a:latin typeface="Arabic Typesetting"/>
                <a:ea typeface="Arabic Typesetting"/>
                <a:cs typeface="Arabic Typesetting"/>
                <a:sym typeface="Arabic Typesetting"/>
              </a:rPr>
              <a:t> Deducts from receiver wallet</a:t>
            </a:r>
            <a:endParaRPr sz="3250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-144463" algn="l" rtl="0">
              <a:spcBef>
                <a:spcPts val="1400"/>
              </a:spcBef>
              <a:spcAft>
                <a:spcPts val="0"/>
              </a:spcAft>
              <a:buSzPct val="100000"/>
              <a:buFont typeface="Arabic Typesetting"/>
              <a:buChar char="•"/>
            </a:pPr>
            <a:r>
              <a:rPr lang="en-US" sz="3250">
                <a:latin typeface="Arabic Typesetting"/>
                <a:ea typeface="Arabic Typesetting"/>
                <a:cs typeface="Arabic Typesetting"/>
                <a:sym typeface="Arabic Typesetting"/>
              </a:rPr>
              <a:t> Calculates commission and provider payout</a:t>
            </a:r>
            <a:endParaRPr sz="3250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3250" b="1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65000"/>
              <a:buNone/>
            </a:pPr>
            <a:endParaRPr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65000"/>
              <a:buNone/>
            </a:pPr>
            <a:endParaRPr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sz="3300" b="1">
              <a:latin typeface="Arabic Typesetting"/>
              <a:ea typeface="Arabic Typesetting"/>
              <a:cs typeface="Arabic Typesetting"/>
              <a:sym typeface="Arabic Typesetting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7642860" y="6103620"/>
            <a:ext cx="1501140" cy="189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66" y="0"/>
            <a:ext cx="8970033" cy="6292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>
            <a:spLocks noGrp="1"/>
          </p:cNvSpPr>
          <p:nvPr>
            <p:ph type="title"/>
          </p:nvPr>
        </p:nvSpPr>
        <p:spPr>
          <a:xfrm>
            <a:off x="822960" y="277029"/>
            <a:ext cx="75438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Arabic Typesetting"/>
              <a:buNone/>
            </a:pPr>
            <a:r>
              <a:rPr lang="en-US" sz="5300">
                <a:latin typeface="Arabic Typesetting"/>
                <a:ea typeface="Arabic Typesetting"/>
                <a:cs typeface="Arabic Typesetting"/>
                <a:sym typeface="Arabic Typesetting"/>
              </a:rPr>
              <a:t>Business Rules and Constraints</a:t>
            </a:r>
            <a:endParaRPr sz="5300">
              <a:latin typeface="Arabic Typesetting"/>
              <a:ea typeface="Arabic Typesetting"/>
              <a:cs typeface="Arabic Typesetting"/>
              <a:sym typeface="Arabic Typesetting"/>
            </a:endParaRPr>
          </a:p>
        </p:txBody>
      </p:sp>
      <p:sp>
        <p:nvSpPr>
          <p:cNvPr id="178" name="Google Shape;178;p9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 Providers must be approved before booking</a:t>
            </a:r>
            <a:endParaRPr sz="280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 No overlapping appointments allowed</a:t>
            </a:r>
            <a:endParaRPr sz="280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 Unavailable time blocks enforced</a:t>
            </a:r>
            <a:endParaRPr sz="280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 Payments only after completed services</a:t>
            </a:r>
            <a:endParaRPr sz="280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 Rating must be between 1–5</a:t>
            </a:r>
            <a:endParaRPr sz="280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08d15bc24_1_0"/>
          <p:cNvSpPr txBox="1">
            <a:spLocks noGrp="1"/>
          </p:cNvSpPr>
          <p:nvPr>
            <p:ph type="title"/>
          </p:nvPr>
        </p:nvSpPr>
        <p:spPr>
          <a:xfrm>
            <a:off x="822960" y="277029"/>
            <a:ext cx="75438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Arabic Typesetting"/>
              <a:buNone/>
            </a:pPr>
            <a:r>
              <a:rPr lang="en-US" sz="6000">
                <a:latin typeface="Arabic Typesetting"/>
                <a:ea typeface="Arabic Typesetting"/>
                <a:cs typeface="Arabic Typesetting"/>
                <a:sym typeface="Arabic Typesetting"/>
              </a:rPr>
              <a:t>Revenue Model</a:t>
            </a:r>
            <a:endParaRPr sz="6000">
              <a:latin typeface="Arabic Typesetting"/>
              <a:ea typeface="Arabic Typesetting"/>
              <a:cs typeface="Arabic Typesetting"/>
              <a:sym typeface="Arabic Typesetting"/>
            </a:endParaRPr>
          </a:p>
        </p:txBody>
      </p:sp>
      <p:sp>
        <p:nvSpPr>
          <p:cNvPr id="184" name="Google Shape;184;g3e08d15bc24_1_0"/>
          <p:cNvSpPr txBox="1">
            <a:spLocks noGrp="1"/>
          </p:cNvSpPr>
          <p:nvPr>
            <p:ph type="body" idx="1"/>
          </p:nvPr>
        </p:nvSpPr>
        <p:spPr>
          <a:xfrm>
            <a:off x="822950" y="1845724"/>
            <a:ext cx="7543800" cy="44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55000" lnSpcReduction="20000"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72" b="1">
                <a:latin typeface="Arabic Typesetting"/>
                <a:ea typeface="Arabic Typesetting"/>
                <a:cs typeface="Arabic Typesetting"/>
                <a:sym typeface="Arabic Typesetting"/>
              </a:rPr>
              <a:t>How HomeFix earns money:</a:t>
            </a:r>
            <a:endParaRPr sz="4072" b="1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72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-14222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4072">
                <a:latin typeface="Arabic Typesetting"/>
                <a:ea typeface="Arabic Typesetting"/>
                <a:cs typeface="Arabic Typesetting"/>
                <a:sym typeface="Arabic Typesetting"/>
              </a:rPr>
              <a:t> Commission on completed appointments </a:t>
            </a:r>
            <a:endParaRPr sz="4072"/>
          </a:p>
          <a:p>
            <a:pPr marL="91440" lvl="0" indent="-142222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4072">
                <a:latin typeface="Arabic Typesetting"/>
                <a:ea typeface="Arabic Typesetting"/>
                <a:cs typeface="Arabic Typesetting"/>
                <a:sym typeface="Arabic Typesetting"/>
              </a:rPr>
              <a:t> Receivers pay through wallet </a:t>
            </a:r>
            <a:endParaRPr sz="4072"/>
          </a:p>
          <a:p>
            <a:pPr marL="91440" lvl="0" indent="-142222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4072">
                <a:latin typeface="Arabic Typesetting"/>
                <a:ea typeface="Arabic Typesetting"/>
                <a:cs typeface="Arabic Typesetting"/>
                <a:sym typeface="Arabic Typesetting"/>
              </a:rPr>
              <a:t> Platform deducts commission </a:t>
            </a:r>
            <a:endParaRPr sz="4072"/>
          </a:p>
          <a:p>
            <a:pPr marL="91440" lvl="0" indent="-142222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4072">
                <a:latin typeface="Arabic Typesetting"/>
                <a:ea typeface="Arabic Typesetting"/>
                <a:cs typeface="Arabic Typesetting"/>
                <a:sym typeface="Arabic Typesetting"/>
              </a:rPr>
              <a:t> Provider receives remaining amount</a:t>
            </a:r>
            <a:endParaRPr sz="4072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-142222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Arabic Typesetting"/>
              <a:buChar char="•"/>
            </a:pPr>
            <a:r>
              <a:rPr lang="en-US" sz="4072" b="1">
                <a:latin typeface="Arabic Typesetting"/>
                <a:ea typeface="Arabic Typesetting"/>
                <a:cs typeface="Arabic Typesetting"/>
                <a:sym typeface="Arabic Typesetting"/>
              </a:rPr>
              <a:t> Example:</a:t>
            </a:r>
            <a:r>
              <a:rPr lang="en-US" sz="4072">
                <a:latin typeface="Arabic Typesetting"/>
                <a:ea typeface="Arabic Typesetting"/>
                <a:cs typeface="Arabic Typesetting"/>
                <a:sym typeface="Arabic Typesetting"/>
              </a:rPr>
              <a:t> Total payment-$100</a:t>
            </a:r>
            <a:endParaRPr sz="4072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4072">
                <a:latin typeface="Arabic Typesetting"/>
                <a:ea typeface="Arabic Typesetting"/>
                <a:cs typeface="Arabic Typesetting"/>
                <a:sym typeface="Arabic Typesetting"/>
              </a:rPr>
              <a:t>                  Commission (15%)- $15</a:t>
            </a:r>
            <a:endParaRPr sz="4072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4072">
                <a:latin typeface="Arabic Typesetting"/>
                <a:ea typeface="Arabic Typesetting"/>
                <a:cs typeface="Arabic Typesetting"/>
                <a:sym typeface="Arabic Typesetting"/>
              </a:rPr>
              <a:t>                  Provider gets $85</a:t>
            </a:r>
            <a:endParaRPr sz="4072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2800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280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71429"/>
              <a:buNone/>
            </a:pP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08d15bc24_1_5"/>
          <p:cNvSpPr txBox="1">
            <a:spLocks noGrp="1"/>
          </p:cNvSpPr>
          <p:nvPr>
            <p:ph type="title"/>
          </p:nvPr>
        </p:nvSpPr>
        <p:spPr>
          <a:xfrm>
            <a:off x="800110" y="4"/>
            <a:ext cx="75438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Arabic Typesetting"/>
              <a:buNone/>
            </a:pPr>
            <a:r>
              <a:rPr lang="en-US" sz="6000">
                <a:latin typeface="Arabic Typesetting"/>
                <a:ea typeface="Arabic Typesetting"/>
                <a:cs typeface="Arabic Typesetting"/>
                <a:sym typeface="Arabic Typesetting"/>
              </a:rPr>
              <a:t>Pricing and Payment</a:t>
            </a:r>
            <a:endParaRPr sz="6000">
              <a:latin typeface="Arabic Typesetting"/>
              <a:ea typeface="Arabic Typesetting"/>
              <a:cs typeface="Arabic Typesetting"/>
              <a:sym typeface="Arabic Typesetting"/>
            </a:endParaRPr>
          </a:p>
        </p:txBody>
      </p:sp>
      <p:sp>
        <p:nvSpPr>
          <p:cNvPr id="190" name="Google Shape;190;g3e08d15bc24_1_5"/>
          <p:cNvSpPr txBox="1">
            <a:spLocks noGrp="1"/>
          </p:cNvSpPr>
          <p:nvPr>
            <p:ph type="body" idx="1"/>
          </p:nvPr>
        </p:nvSpPr>
        <p:spPr>
          <a:xfrm>
            <a:off x="891375" y="1845725"/>
            <a:ext cx="8252700" cy="5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25000" lnSpcReduction="20000"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3" b="1">
                <a:latin typeface="Arabic Typesetting"/>
                <a:ea typeface="Arabic Typesetting"/>
                <a:cs typeface="Arabic Typesetting"/>
                <a:sym typeface="Arabic Typesetting"/>
              </a:rPr>
              <a:t>Cost Calculation:</a:t>
            </a:r>
            <a:endParaRPr sz="8603" b="1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603" b="1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-1365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8603">
                <a:latin typeface="Arabic Typesetting"/>
                <a:ea typeface="Arabic Typesetting"/>
                <a:cs typeface="Arabic Typesetting"/>
                <a:sym typeface="Arabic Typesetting"/>
              </a:rPr>
              <a:t> Based on provider hourly rate</a:t>
            </a:r>
            <a:endParaRPr sz="8603"/>
          </a:p>
          <a:p>
            <a:pPr marL="91440" lvl="0" indent="-136572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8603">
                <a:latin typeface="Arabic Typesetting"/>
                <a:ea typeface="Arabic Typesetting"/>
                <a:cs typeface="Arabic Typesetting"/>
                <a:sym typeface="Arabic Typesetting"/>
              </a:rPr>
              <a:t> Adjusted by schedule surcharge</a:t>
            </a:r>
            <a:endParaRPr sz="8603"/>
          </a:p>
          <a:p>
            <a:pPr marL="91440" lvl="0" indent="-136572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8603">
                <a:latin typeface="Arabic Typesetting"/>
                <a:ea typeface="Arabic Typesetting"/>
                <a:cs typeface="Arabic Typesetting"/>
                <a:sym typeface="Arabic Typesetting"/>
              </a:rPr>
              <a:t> Includes optional tip</a:t>
            </a:r>
            <a:endParaRPr sz="8603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8603" b="1">
                <a:latin typeface="Arabic Typesetting"/>
                <a:ea typeface="Arabic Typesetting"/>
                <a:cs typeface="Arabic Typesetting"/>
                <a:sym typeface="Arabic Typesetting"/>
              </a:rPr>
              <a:t>Surcharge Rules:</a:t>
            </a:r>
            <a:endParaRPr sz="8603" b="1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803" b="1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-136572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8603">
                <a:latin typeface="Arabic Typesetting"/>
                <a:ea typeface="Arabic Typesetting"/>
                <a:cs typeface="Arabic Typesetting"/>
                <a:sym typeface="Arabic Typesetting"/>
              </a:rPr>
              <a:t> No surcharge during normal hours (Monday-Friday, 8:00 am- 5:00pm)</a:t>
            </a:r>
            <a:endParaRPr sz="8603"/>
          </a:p>
          <a:p>
            <a:pPr marL="91440" lvl="0" indent="-136572" algn="l" rtl="0">
              <a:spcBef>
                <a:spcPts val="14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8603">
                <a:latin typeface="Arabic Typesetting"/>
                <a:ea typeface="Arabic Typesetting"/>
                <a:cs typeface="Arabic Typesetting"/>
                <a:sym typeface="Arabic Typesetting"/>
              </a:rPr>
              <a:t> 20% surcharge after-hours</a:t>
            </a:r>
            <a:endParaRPr sz="8603"/>
          </a:p>
          <a:p>
            <a:pPr marL="91440" lvl="0" indent="-136572" algn="l" rtl="0">
              <a:spcBef>
                <a:spcPts val="14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8603">
                <a:latin typeface="Arabic Typesetting"/>
                <a:ea typeface="Arabic Typesetting"/>
                <a:cs typeface="Arabic Typesetting"/>
                <a:sym typeface="Arabic Typesetting"/>
              </a:rPr>
              <a:t> 10% surcharge on weekends</a:t>
            </a:r>
            <a:endParaRPr sz="8603"/>
          </a:p>
          <a:p>
            <a:pPr marL="91440" lvl="0" indent="-136572" algn="l" rtl="0">
              <a:spcBef>
                <a:spcPts val="14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8603">
                <a:latin typeface="Arabic Typesetting"/>
                <a:ea typeface="Arabic Typesetting"/>
                <a:cs typeface="Arabic Typesetting"/>
                <a:sym typeface="Arabic Typesetting"/>
              </a:rPr>
              <a:t> 30% surcharge on weekend after-hours</a:t>
            </a:r>
            <a:endParaRPr sz="8603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8603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4072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2800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280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71429"/>
              <a:buNone/>
            </a:pP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Arabic Typesetting"/>
              <a:buNone/>
            </a:pPr>
            <a:r>
              <a:rPr lang="en-US" sz="6000">
                <a:latin typeface="Arabic Typesetting"/>
                <a:ea typeface="Arabic Typesetting"/>
                <a:cs typeface="Arabic Typesetting"/>
                <a:sym typeface="Arabic Typesetting"/>
              </a:rPr>
              <a:t>Takeaways</a:t>
            </a:r>
            <a:endParaRPr sz="6000"/>
          </a:p>
        </p:txBody>
      </p:sp>
      <p:sp>
        <p:nvSpPr>
          <p:cNvPr id="196" name="Google Shape;196;p12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 Better understanding of relational databases</a:t>
            </a:r>
            <a:endParaRPr sz="2800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abic Typesetting"/>
              <a:buChar char="•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 Connected application to a MySQL database</a:t>
            </a:r>
            <a:endParaRPr sz="2800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abic Typesetting"/>
              <a:buChar char="•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 Used triggers and procedures </a:t>
            </a:r>
            <a:endParaRPr sz="2800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abic Typesetting"/>
              <a:buChar char="•"/>
            </a:pPr>
            <a:r>
              <a:rPr lang="en-US" sz="2800">
                <a:latin typeface="Arabic Typesetting"/>
                <a:ea typeface="Arabic Typesetting"/>
                <a:cs typeface="Arabic Typesetting"/>
                <a:sym typeface="Arabic Typesetting"/>
              </a:rPr>
              <a:t> Learned Express and Docker</a:t>
            </a:r>
            <a:endParaRPr sz="2800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Arabic Typesetting"/>
              <a:ea typeface="Arabic Typesetting"/>
              <a:cs typeface="Arabic Typesetting"/>
              <a:sym typeface="Arabic Typesetting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300"/>
              <a:buFont typeface="Arial"/>
              <a:buNone/>
            </a:pPr>
            <a:endParaRPr sz="2800">
              <a:latin typeface="Arabic Typesetting"/>
              <a:ea typeface="Arabic Typesetting"/>
              <a:cs typeface="Arabic Typesetting"/>
              <a:sym typeface="Arabic Typesetting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/>
          <p:nvPr/>
        </p:nvSpPr>
        <p:spPr>
          <a:xfrm>
            <a:off x="0" y="0"/>
            <a:ext cx="9139736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 txBox="1">
            <a:spLocks noGrp="1"/>
          </p:cNvSpPr>
          <p:nvPr>
            <p:ph type="body" idx="1"/>
          </p:nvPr>
        </p:nvSpPr>
        <p:spPr>
          <a:xfrm>
            <a:off x="3126066" y="0"/>
            <a:ext cx="5870537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9144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Char char=" "/>
            </a:pPr>
            <a:r>
              <a:rPr lang="en-US" sz="6000">
                <a:latin typeface="Arabic Typesetting"/>
                <a:ea typeface="Arabic Typesetting"/>
                <a:cs typeface="Arabic Typesetting"/>
                <a:sym typeface="Arabic Typesetting"/>
              </a:rPr>
              <a:t>Thank you!</a:t>
            </a:r>
            <a:br>
              <a:rPr lang="en-US" sz="6000">
                <a:latin typeface="Arabic Typesetting"/>
                <a:ea typeface="Arabic Typesetting"/>
                <a:cs typeface="Arabic Typesetting"/>
                <a:sym typeface="Arabic Typesetting"/>
              </a:rPr>
            </a:br>
            <a:r>
              <a:rPr lang="en-US" sz="6000">
                <a:latin typeface="Arabic Typesetting"/>
                <a:ea typeface="Arabic Typesetting"/>
                <a:cs typeface="Arabic Typesetting"/>
                <a:sym typeface="Arabic Typesetting"/>
              </a:rPr>
              <a:t>  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</Words>
  <Application>Microsoft Office PowerPoint</Application>
  <PresentationFormat>On-screen Show (4:3)</PresentationFormat>
  <Paragraphs>81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Arabic Typesetting</vt:lpstr>
      <vt:lpstr>Arial</vt:lpstr>
      <vt:lpstr>Calibri</vt:lpstr>
      <vt:lpstr>Retrospect</vt:lpstr>
      <vt:lpstr>HomeFix</vt:lpstr>
      <vt:lpstr>Introduction</vt:lpstr>
      <vt:lpstr>Tech Stack</vt:lpstr>
      <vt:lpstr>Business Model</vt:lpstr>
      <vt:lpstr>Receiver Journey</vt:lpstr>
      <vt:lpstr>Provider Journey</vt:lpstr>
      <vt:lpstr>Live Demo</vt:lpstr>
      <vt:lpstr>Stored Procedures</vt:lpstr>
      <vt:lpstr>PowerPoint Presentation</vt:lpstr>
      <vt:lpstr>Business Rules and Constraints</vt:lpstr>
      <vt:lpstr>Revenue Model</vt:lpstr>
      <vt:lpstr>Pricing and Payment</vt:lpstr>
      <vt:lpstr>Takeaways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GUOWEI ZHAO</cp:lastModifiedBy>
  <cp:revision>1</cp:revision>
  <dcterms:created xsi:type="dcterms:W3CDTF">2013-01-27T09:14:16Z</dcterms:created>
  <dcterms:modified xsi:type="dcterms:W3CDTF">2026-05-11T03:18:14Z</dcterms:modified>
</cp:coreProperties>
</file>